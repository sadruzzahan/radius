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F3FF"/>
                </a:solidFill>
              </a:defRPr>
            </a:pPr>
            <a:r>
              <a:t>Radius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9C0"/>
                </a:solidFill>
              </a:defRPr>
            </a:pPr>
            <a:r>
              <a:t>AI Assisted Hyperlocal Marketplace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5F3FF"/>
                </a:solidFill>
              </a:defRPr>
            </a:pPr>
            <a:r>
              <a:t>Buy and sell safely with people nearby.</a:t>
            </a:r>
          </a:p>
          <a:p>
            <a:pPr>
              <a:defRPr sz="1800" b="0">
                <a:solidFill>
                  <a:srgbClr val="F5F3FF"/>
                </a:solidFill>
              </a:defRPr>
            </a:pPr>
            <a:r>
              <a:t>Trust Radar + explainable fraud detection + admin moderation.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983480"/>
            <a:ext cx="4023360" cy="82296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5129784"/>
            <a:ext cx="36941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5495544"/>
            <a:ext cx="369417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[Team Name]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[Names and IDs]</a:t>
            </a:r>
          </a:p>
        </p:txBody>
      </p:sp>
      <p:pic>
        <p:nvPicPr>
          <p:cNvPr id="10" name="Picture 9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11480"/>
            <a:ext cx="5257800" cy="58978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3FF"/>
                </a:solidFill>
              </a:defRPr>
            </a:pPr>
            <a:r>
              <a:t>Secondhand marketplaces are useful, but trust is weak.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663440" cy="1170432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4334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5370"/>
                </a:solidFill>
              </a:defRPr>
            </a:pPr>
            <a:r>
              <a:t>Fake listings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40864"/>
            <a:ext cx="433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Scammers post attractive products that do not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4663440" cy="1170432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3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1" y="1975104"/>
            <a:ext cx="4334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3D81"/>
                </a:solidFill>
              </a:defRPr>
            </a:pPr>
            <a:r>
              <a:t>Copied photos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1" y="2340864"/>
            <a:ext cx="433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Old or stolen product images mislead buyers.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4663440" cy="1170432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C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66744"/>
            <a:ext cx="4334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531"/>
                </a:solidFill>
              </a:defRPr>
            </a:pPr>
            <a:r>
              <a:t>Suspicious prices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32504"/>
            <a:ext cx="433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Very low prices are used as bait.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520440"/>
            <a:ext cx="4663440" cy="1170432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1" y="3666744"/>
            <a:ext cx="4334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Off-platform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1" y="4032504"/>
            <a:ext cx="433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Users are pushed to WhatsApp, deposits, or token money.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3FF"/>
                </a:solidFill>
              </a:defRPr>
            </a:pPr>
            <a:r>
              <a:t>Radius combines local discovery with AI trust screening.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246120" cy="123444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9222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Browse nearby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57984"/>
            <a:ext cx="29169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Implemented in the current full-stack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46120" cy="123444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9222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Sell with secure photo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57984"/>
            <a:ext cx="29169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Implemented in the current full-stack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45920"/>
            <a:ext cx="3246120" cy="123444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3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79222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3D81"/>
                </a:solidFill>
              </a:defRPr>
            </a:pPr>
            <a:r>
              <a:t>Chat inside the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157984"/>
            <a:ext cx="29169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Implemented in the current full-stack system.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3246120" cy="123444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C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62102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531"/>
                </a:solidFill>
              </a:defRPr>
            </a:pPr>
            <a:r>
              <a:t>Report suspicious listings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86783"/>
            <a:ext cx="29169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Implemented in the current full-stack system.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246120" cy="123444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62102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5370"/>
                </a:solidFill>
              </a:defRPr>
            </a:pPr>
            <a:r>
              <a:t>Admin reviews AI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986783"/>
            <a:ext cx="29169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Implemented in the current full-stack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474720"/>
            <a:ext cx="3246120" cy="123444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362102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ML log explains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986783"/>
            <a:ext cx="29169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Implemented in the current full-stack system.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Architecture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41248"/>
            <a:ext cx="11155680" cy="5394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User Roles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154680" cy="41605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72184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Guest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37943"/>
            <a:ext cx="2825496" cy="3538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Browse listings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Search and filter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View listing details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Cannot sell/chat/report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154680" cy="41605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472184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Registered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37943"/>
            <a:ext cx="2825496" cy="3538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Create listings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Upload photos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Chat with sellers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Report suspicious items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Review after completed trade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3154680" cy="41605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3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472184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3D81"/>
                </a:solidFill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837943"/>
            <a:ext cx="2825496" cy="3538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Review fraud queue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Resolve reports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Manage users</a:t>
            </a:r>
          </a:p>
          <a:p>
            <a:pPr>
              <a:defRPr sz="1200" b="0">
                <a:solidFill>
                  <a:srgbClr val="F5F3FF"/>
                </a:solidFill>
              </a:defRPr>
            </a:pPr>
            <a:r>
              <a:t>Inspect ML prediction log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Trust Radar</a:t>
            </a:r>
          </a:p>
        </p:txBody>
      </p:sp>
      <p:pic>
        <p:nvPicPr>
          <p:cNvPr id="5" name="Picture 4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777240"/>
            <a:ext cx="5486400" cy="5532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96012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3FF"/>
                </a:solidFill>
              </a:defRPr>
            </a:pPr>
            <a:r>
              <a:t>The radar is a live discovery feature, not decoration.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783080"/>
            <a:ext cx="4526280" cy="91440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92938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2295144"/>
            <a:ext cx="419709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The center is the user; nodes are nearby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80360"/>
            <a:ext cx="4526280" cy="91440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C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302666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531"/>
                </a:solidFill>
              </a:defRPr>
            </a:pPr>
            <a: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3392424"/>
            <a:ext cx="419709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Node color shows verified, review, or flagged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977639"/>
            <a:ext cx="4526280" cy="91440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412394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4489704"/>
            <a:ext cx="4197096" cy="2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Selecting a node opens a mini listing preview card.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Product Detail</a:t>
            </a:r>
          </a:p>
        </p:txBody>
      </p:sp>
      <p:pic>
        <p:nvPicPr>
          <p:cNvPr id="5" name="Picture 4" descr="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777240"/>
            <a:ext cx="5486400" cy="5532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960120"/>
            <a:ext cx="4526280" cy="105156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10642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Trust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1" y="1472184"/>
            <a:ext cx="4197096" cy="429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Shows fraud score, signals, explanations, and visual risk 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331720"/>
            <a:ext cx="4526280" cy="105156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C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247802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531"/>
                </a:solidFill>
              </a:defRPr>
            </a:pPr>
            <a:r>
              <a:t>Price 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843784"/>
            <a:ext cx="4197096" cy="429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Compares listing price against similar nearby products.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703320"/>
            <a:ext cx="4526280" cy="105156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3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384962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3D81"/>
                </a:solidFill>
              </a:defRPr>
            </a:pPr>
            <a:r>
              <a:t>Seller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4215383"/>
            <a:ext cx="4197096" cy="429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Seller reputation and report workflow support safer decisions.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Sell and Manage</a:t>
            </a:r>
          </a:p>
        </p:txBody>
      </p:sp>
      <p:pic>
        <p:nvPicPr>
          <p:cNvPr id="5" name="Picture 4" descr="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777240"/>
            <a:ext cx="5166360" cy="5532120"/>
          </a:xfrm>
          <a:prstGeom prst="rect">
            <a:avLst/>
          </a:prstGeom>
        </p:spPr>
      </p:pic>
      <p:pic>
        <p:nvPicPr>
          <p:cNvPr id="6" name="Picture 5" descr="man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78992"/>
            <a:ext cx="52578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4736592"/>
            <a:ext cx="4800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3FF"/>
                </a:solidFill>
              </a:defRPr>
            </a:pPr>
            <a:r>
              <a:t>Sell flow triggers ML scoring. Manage tab focuses on seller operations.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Fraud Detection Engine</a:t>
            </a:r>
          </a:p>
        </p:txBody>
      </p:sp>
      <p:pic>
        <p:nvPicPr>
          <p:cNvPr id="5" name="Picture 4" descr="frau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41248"/>
            <a:ext cx="11155680" cy="5394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Admin Moderation</a:t>
            </a:r>
          </a:p>
        </p:txBody>
      </p:sp>
      <p:pic>
        <p:nvPicPr>
          <p:cNvPr id="5" name="Picture 4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777240"/>
            <a:ext cx="5486400" cy="5532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960120"/>
            <a:ext cx="4526280" cy="9601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53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10642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5370"/>
                </a:solidFill>
              </a:defRPr>
            </a:pPr>
            <a:r>
              <a:t>Fraud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1" y="1472184"/>
            <a:ext cx="419709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Approve or remove high-risk listings.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48840"/>
            <a:ext cx="4526280" cy="9601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C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229514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531"/>
                </a:solidFill>
              </a:defRPr>
            </a:pPr>
            <a:r>
              <a:t>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660904"/>
            <a:ext cx="419709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Resolve user-submitted suspicious listing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337560"/>
            <a:ext cx="4526280" cy="9601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348386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3849624"/>
            <a:ext cx="419709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Suspend or reactivate accounts.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526280"/>
            <a:ext cx="4526280" cy="9601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1" y="4672584"/>
            <a:ext cx="4197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ML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5038344"/>
            <a:ext cx="419709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Audit model version, score, signals, and feature snapshot.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Dataset and Evaluation</a:t>
            </a:r>
          </a:p>
        </p:txBody>
      </p:sp>
      <p:pic>
        <p:nvPicPr>
          <p:cNvPr id="5" name="Picture 4" descr="datas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60120"/>
            <a:ext cx="58521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03720" y="1024128"/>
            <a:ext cx="4297680" cy="9601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68312" y="1170432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Price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8312" y="1536192"/>
            <a:ext cx="396849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520+ market price rows across 10 product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212848"/>
            <a:ext cx="4297680" cy="9601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3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8312" y="2359152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3D81"/>
                </a:solidFill>
              </a:defRPr>
            </a:pPr>
            <a:r>
              <a:t>Fraud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8312" y="2724912"/>
            <a:ext cx="396849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Admin decisions, reports, and manual CSV imports become labels.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3401568"/>
            <a:ext cx="4297680" cy="9601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C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68312" y="3547872"/>
            <a:ext cx="3968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C531"/>
                </a:solidFill>
              </a:defRPr>
            </a:pPr>
            <a: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3913632"/>
            <a:ext cx="396849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Precision, recall, F1 score, and false positive rate.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Testing and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3FF"/>
                </a:solidFill>
              </a:defRPr>
            </a:pPr>
            <a:r>
              <a:t>Verified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46120" cy="11887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7510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ML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40864"/>
            <a:ext cx="29169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9 pytest tests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46120" cy="11887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97510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40864"/>
            <a:ext cx="29169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23 Vitest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246120" cy="118872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3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97510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3D81"/>
                </a:solidFill>
              </a:defRPr>
            </a:pPr>
            <a:r>
              <a:t>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340864"/>
            <a:ext cx="29169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Production Vite build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690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0">
                <a:solidFill>
                  <a:srgbClr val="F5F3FF"/>
                </a:solidFill>
              </a:defRPr>
            </a:pPr>
            <a:r>
              <a:t>The project satisfies the academic requirements and is structured as a portfolio-ready full-stack product.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3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3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5F3FF"/>
                </a:solidFill>
              </a:defRPr>
            </a:pPr>
            <a:r>
              <a:t>Radius is more than a product selling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74519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5F3FF"/>
                </a:solidFill>
              </a:defRPr>
            </a:pPr>
            <a:r>
              <a:t>It combines role-based marketplace workflows with nearby discovery, real-time chat, admin moderation, and explainable AI/ML trust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03320"/>
            <a:ext cx="3200400" cy="109728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849624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9C0"/>
                </a:solidFill>
              </a:defRPr>
            </a:pPr>
            <a:r>
              <a:t>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215383"/>
            <a:ext cx="2871216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Products near the 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703320"/>
            <a:ext cx="3200400" cy="109728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3B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3849624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B82FF"/>
                </a:solidFill>
              </a:defRPr>
            </a:pPr>
            <a:r>
              <a:t>Safe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4215383"/>
            <a:ext cx="2871216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Fraud signals are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703320"/>
            <a:ext cx="3200400" cy="1097280"/>
          </a:xfrm>
          <a:prstGeom prst="roundRect">
            <a:avLst/>
          </a:prstGeom>
          <a:solidFill>
            <a:srgbClr val="1C1626"/>
          </a:solidFill>
          <a:ln w="19050">
            <a:solidFill>
              <a:srgbClr val="FF3D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49624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3D81"/>
                </a:solidFill>
              </a:defRPr>
            </a:pPr>
            <a:r>
              <a:t>Explainable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215383"/>
            <a:ext cx="2871216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F5F3FF"/>
                </a:solidFill>
              </a:defRPr>
            </a:pPr>
            <a:r>
              <a:t>Admins see reasons, not just scores.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9C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